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888888"/>
                </a:solidFill>
                <a:latin typeface="Arial"/>
              </a:defRPr>
            </a:pPr>
            <a:r>
              <a:rPr sz="1000" b="0" i="0" u="none" strike="noStrike">
                <a:solidFill>
                  <a:srgbClr val="888888"/>
                </a:solidFill>
                <a:latin typeface="Arial"/>
              </a:rPr>
              <a:t>Features by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Features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ff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aaaa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0606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cccc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CRUD Core</c:v>
                  </c:pt>
                  <c:pt idx="1">
                    <c:v>Search/Filter</c:v>
                  </c:pt>
                  <c:pt idx="2">
                    <c:v>Data I/O</c:v>
                  </c:pt>
                  <c:pt idx="3">
                    <c:v>UX Design</c:v>
                  </c:pt>
                  <c:pt idx="4">
                    <c:v>Analytics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3</c:v>
                </c:pt>
                <c:pt idx="3">
                  <c:v>6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e2e2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111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888888"/>
                </a:solidFill>
                <a:latin typeface="Arial"/>
              </a:defRPr>
            </a:pPr>
            <a:r>
              <a:rPr sz="1000" b="0" i="0" u="none" strike="noStrike">
                <a:solidFill>
                  <a:srgbClr val="888888"/>
                </a:solidFill>
                <a:latin typeface="Arial"/>
              </a:rPr>
              <a:t>Code Split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Code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FFFF"/>
              </a:solidFill>
              <a:effectLst/>
            </c:spPr>
          </c:dPt>
          <c:dPt>
            <c:idx val="1"/>
            <c:bubble3D val="0"/>
            <c:spPr>
              <a:solidFill>
                <a:srgbClr val="888888"/>
              </a:solidFill>
              <a:effectLst/>
            </c:spPr>
          </c:dPt>
          <c:dPt>
            <c:idx val="2"/>
            <c:bubble3D val="0"/>
            <c:spPr>
              <a:solidFill>
                <a:srgbClr val="40404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11111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11111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11111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JavaScript</c:v>
                </c:pt>
                <c:pt idx="1">
                  <c:v>CSS</c:v>
                </c:pt>
                <c:pt idx="2">
                  <c:v>HTML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62</c:v>
                </c:pt>
                <c:pt idx="1">
                  <c:v>28</c:v>
                </c:pt>
                <c:pt idx="2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88888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111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image" Target="../media/image-7-25.png"/><Relationship Id="rId26" Type="http://schemas.openxmlformats.org/officeDocument/2006/relationships/image" Target="../media/image-7-26.png"/><Relationship Id="rId27" Type="http://schemas.openxmlformats.org/officeDocument/2006/relationships/image" Target="../media/image-7-27.png"/><Relationship Id="rId28" Type="http://schemas.openxmlformats.org/officeDocument/2006/relationships/image" Target="../media/image-7-28.png"/><Relationship Id="rId29" Type="http://schemas.openxmlformats.org/officeDocument/2006/relationships/image" Target="../media/image-7-29.png"/><Relationship Id="rId30" Type="http://schemas.openxmlformats.org/officeDocument/2006/relationships/image" Target="../media/image-7-30.png"/><Relationship Id="rId31" Type="http://schemas.openxmlformats.org/officeDocument/2006/relationships/image" Target="../media/image-7-31.png"/><Relationship Id="rId32" Type="http://schemas.openxmlformats.org/officeDocument/2006/relationships/image" Target="../media/image-7-32.png"/><Relationship Id="rId33" Type="http://schemas.openxmlformats.org/officeDocument/2006/relationships/image" Target="../media/image-7-33.png"/><Relationship Id="rId34" Type="http://schemas.openxmlformats.org/officeDocument/2006/relationships/image" Target="../media/image-7-34.png"/><Relationship Id="rId35" Type="http://schemas.openxmlformats.org/officeDocument/2006/relationships/slideLayout" Target="../slideLayouts/slideLayout1.xml"/><Relationship Id="rId3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Slide-10-image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365760" cy="0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365760" cy="2286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274320"/>
            <a:ext cx="365760" cy="0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274320"/>
            <a:ext cx="365760" cy="2286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4850892"/>
            <a:ext cx="365760" cy="0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850892"/>
            <a:ext cx="365760" cy="2286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0" y="4850892"/>
            <a:ext cx="365760" cy="0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4850892"/>
            <a:ext cx="365760" cy="2286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47472"/>
            <a:ext cx="1920240" cy="274320"/>
          </a:xfrm>
          <a:prstGeom prst="rect">
            <a:avLst/>
          </a:prstGeom>
          <a:solidFill>
            <a:srgbClr val="1A1A1A"/>
          </a:solidFill>
          <a:ln w="7620">
            <a:solidFill>
              <a:srgbClr val="40404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74904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3657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ONLINE  v2.0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65760" y="658368"/>
            <a:ext cx="8412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spc="20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CRUDS</a:t>
            </a:r>
            <a:endParaRPr lang="en-US" sz="12000" dirty="0"/>
          </a:p>
        </p:txBody>
      </p:sp>
      <p:sp>
        <p:nvSpPr>
          <p:cNvPr id="14" name="Shape 11"/>
          <p:cNvSpPr/>
          <p:nvPr/>
        </p:nvSpPr>
        <p:spPr>
          <a:xfrm>
            <a:off x="365760" y="3017520"/>
            <a:ext cx="8412480" cy="502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316382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600" kern="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Management Terminal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65760" y="37033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 ·  READ  ·  UPDATE  ·  DELETE  ·  SEARCH  ·  SORT  ·  EXPORT  ·  IMPORT  ·  UNDO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0" y="4796028"/>
            <a:ext cx="9144000" cy="0"/>
          </a:xfrm>
          <a:prstGeom prst="line">
            <a:avLst/>
          </a:prstGeom>
          <a:noFill/>
          <a:ln w="6350">
            <a:solidFill>
              <a:srgbClr val="40404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8600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by Techno  ·  2025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138160" y="486003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12</a:t>
            </a:r>
            <a:endParaRPr lang="en-US" sz="800" dirty="0"/>
          </a:p>
        </p:txBody>
      </p:sp>
    </p:spTree>
  </p:cSld>
  <p:clrMapOvr>
    <a:masterClrMapping/>
  </p:clrMapOvr>
  <p:transition advClk="1"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walkthrough from the problem to every feature.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0" y="411480"/>
            <a:ext cx="0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58868" y="411480"/>
            <a:ext cx="9144" cy="443484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621792"/>
            <a:ext cx="182880" cy="18288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17136" y="566928"/>
            <a:ext cx="201168" cy="201168"/>
          </a:xfrm>
          <a:prstGeom prst="oval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2856" y="603504"/>
            <a:ext cx="109728" cy="109728"/>
          </a:xfrm>
          <a:prstGeom prst="oval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457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94960" y="457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94960" y="7406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product tracking is broken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0" y="1335024"/>
            <a:ext cx="182880" cy="18288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17136" y="1280160"/>
            <a:ext cx="201168" cy="201168"/>
          </a:xfrm>
          <a:prstGeom prst="oval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62856" y="1316736"/>
            <a:ext cx="109728" cy="109728"/>
          </a:xfrm>
          <a:prstGeom prst="oval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170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94960" y="1170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94960" y="1453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CRUDS and what makes it different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0" y="2048256"/>
            <a:ext cx="182880" cy="18288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17136" y="1993392"/>
            <a:ext cx="201168" cy="201168"/>
          </a:xfrm>
          <a:prstGeom prst="oval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62856" y="2029968"/>
            <a:ext cx="109728" cy="109728"/>
          </a:xfrm>
          <a:prstGeom prst="oval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1883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94960" y="18836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CRUD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21671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Create, Read, Update, Delete in depth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0" y="2761488"/>
            <a:ext cx="182880" cy="18288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17136" y="2706624"/>
            <a:ext cx="201168" cy="201168"/>
          </a:xfrm>
          <a:prstGeom prst="oval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62856" y="2743200"/>
            <a:ext cx="109728" cy="109728"/>
          </a:xfrm>
          <a:prstGeom prst="oval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25968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94960" y="2596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9496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Export, Import, Undo, Filter, Duplicate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0" y="3474720"/>
            <a:ext cx="182880" cy="18288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17136" y="3419856"/>
            <a:ext cx="201168" cy="201168"/>
          </a:xfrm>
          <a:prstGeom prst="oval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62856" y="3456432"/>
            <a:ext cx="109728" cy="109728"/>
          </a:xfrm>
          <a:prstGeom prst="oval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33101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94960" y="33101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94960" y="3593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Zero-dependency — HTML, CSS, JS only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0" y="4187952"/>
            <a:ext cx="182880" cy="18288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17136" y="4133088"/>
            <a:ext cx="201168" cy="201168"/>
          </a:xfrm>
          <a:prstGeom prst="oval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62856" y="4169664"/>
            <a:ext cx="109728" cy="109728"/>
          </a:xfrm>
          <a:prstGeom prst="oval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4023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94960" y="4023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Metrics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94960" y="43068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and the roadmap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909560" y="47960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12</a:t>
            </a:r>
            <a:endParaRPr lang="en-US" sz="750" dirty="0"/>
          </a:p>
        </p:txBody>
      </p:sp>
    </p:spTree>
  </p:cSld>
  <p:clrMapOvr>
    <a:masterClrMapping/>
  </p:clrMapOvr>
  <p:transition advClk="1"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THE PROBLEM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Managing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Products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 Painful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26060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businesses track inventory in spreadsheets, sticky notes, or memory. Errors are inevitable.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3429000"/>
            <a:ext cx="3474720" cy="1234440"/>
          </a:xfrm>
          <a:prstGeom prst="rect">
            <a:avLst/>
          </a:prstGeom>
          <a:solidFill>
            <a:srgbClr val="111111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3520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423160" y="3611880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businesses lose revenue from inventory tracking errors.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256032"/>
            <a:ext cx="4251960" cy="1005840"/>
          </a:xfrm>
          <a:prstGeom prst="rect">
            <a:avLst/>
          </a:prstGeom>
          <a:solidFill>
            <a:srgbClr val="111111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256032"/>
            <a:ext cx="5029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3474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  Scattered Data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64608" y="7132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in spreadsheets, emails, memory — no single truth source.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4251960" cy="1005840"/>
          </a:xfrm>
          <a:prstGeom prst="rect">
            <a:avLst/>
          </a:prstGeom>
          <a:solidFill>
            <a:srgbClr val="111111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417320"/>
            <a:ext cx="5029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508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  No Search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64608" y="1874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one item means manually scrolling through hundreds.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2578608"/>
            <a:ext cx="4251960" cy="1005840"/>
          </a:xfrm>
          <a:prstGeom prst="rect">
            <a:avLst/>
          </a:prstGeom>
          <a:solidFill>
            <a:srgbClr val="111111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578608"/>
            <a:ext cx="5029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26700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  Manual Maths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64608" y="30358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+ tax + ads − discount = wrong answer, every time.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3739896"/>
            <a:ext cx="4251960" cy="1005840"/>
          </a:xfrm>
          <a:prstGeom prst="rect">
            <a:avLst/>
          </a:prstGeom>
          <a:solidFill>
            <a:srgbClr val="111111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3739896"/>
            <a:ext cx="5029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38313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  No Backup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64608" y="41970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deleted file means everything is gone forever.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09560" y="47960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12</a:t>
            </a:r>
            <a:endParaRPr lang="en-US" sz="750" dirty="0"/>
          </a:p>
        </p:txBody>
      </p:sp>
    </p:spTree>
  </p:cSld>
  <p:clrMapOvr>
    <a:masterClrMapping/>
  </p:clrMapOvr>
  <p:transition advClk="1"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THE SOLUTION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5303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Terminal.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 Friction.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Control.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303580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CRUDS is a browser-native product management system.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install. No server. No subscription. Open the file — you're running.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760720" y="384048"/>
            <a:ext cx="3108960" cy="1353312"/>
          </a:xfrm>
          <a:prstGeom prst="rect">
            <a:avLst/>
          </a:prstGeom>
          <a:solidFill>
            <a:srgbClr val="111111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0" y="384048"/>
            <a:ext cx="3108960" cy="0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024" y="7315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55664" y="5669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55664" y="93268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install. Runs in any browser. No npm, no build step, no waiting.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760720" y="1892808"/>
            <a:ext cx="3108960" cy="1353312"/>
          </a:xfrm>
          <a:prstGeom prst="rect">
            <a:avLst/>
          </a:prstGeom>
          <a:solidFill>
            <a:srgbClr val="111111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60720" y="1892808"/>
            <a:ext cx="3108960" cy="0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22402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55664" y="20756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OFFLINE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55664" y="244144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local. localStorage keeps your data safe with no network required.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760720" y="3401568"/>
            <a:ext cx="3108960" cy="1353312"/>
          </a:xfrm>
          <a:prstGeom prst="rect">
            <a:avLst/>
          </a:prstGeom>
          <a:solidFill>
            <a:srgbClr val="111111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760720" y="3401568"/>
            <a:ext cx="3108960" cy="0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024" y="374904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55664" y="35844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PRIVATE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55664" y="395020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never leaves your machine. No accounts, no cloud, no tracking.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7909560" y="47960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12</a:t>
            </a:r>
            <a:endParaRPr lang="en-US" sz="750" dirty="0"/>
          </a:p>
        </p:txBody>
      </p:sp>
    </p:spTree>
  </p:cSld>
  <p:clrMapOvr>
    <a:masterClrMapping/>
  </p:clrMapOvr>
  <p:transition advClk="1" spd="slow">
    <p:push dir="l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CORE CRUD OPERATIONS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Full CRUD Loop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43584" y="1289304"/>
            <a:ext cx="237744" cy="237744"/>
          </a:xfrm>
          <a:prstGeom prst="oval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9304" y="1335024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09344"/>
            <a:ext cx="1993392" cy="3145536"/>
          </a:xfrm>
          <a:prstGeom prst="rect">
            <a:avLst/>
          </a:prstGeom>
          <a:solidFill>
            <a:srgbClr val="111111"/>
          </a:solidFill>
          <a:ln w="9525">
            <a:solidFill>
              <a:srgbClr val="2E2E2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4" y="1773936"/>
            <a:ext cx="603504" cy="6035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48716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2648" y="2907792"/>
            <a:ext cx="17739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1–99 products at once. Live total: (price+tax+ads)×(1−discount%). Char counter on title.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612648" y="385876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Bulk quantity 1–99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12648" y="405993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Live total formula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612648" y="426110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60-char title limit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12648" y="4462272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Shake on error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3419856" y="1289304"/>
            <a:ext cx="237744" cy="237744"/>
          </a:xfrm>
          <a:prstGeom prst="oval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65576" y="1335024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679192" y="1609344"/>
            <a:ext cx="1993392" cy="3145536"/>
          </a:xfrm>
          <a:prstGeom prst="rect">
            <a:avLst/>
          </a:prstGeom>
          <a:solidFill>
            <a:srgbClr val="111111"/>
          </a:solidFill>
          <a:ln w="9525">
            <a:solidFill>
              <a:srgbClr val="2E2E2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136" y="1773936"/>
            <a:ext cx="603504" cy="60350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679192" y="248716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788920" y="2907792"/>
            <a:ext cx="17739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Sortable table with category badges, formatted dollar amounts. Click row for detail modal.</a:t>
            </a:r>
            <a:endParaRPr lang="en-US" sz="880" dirty="0"/>
          </a:p>
        </p:txBody>
      </p:sp>
      <p:sp>
        <p:nvSpPr>
          <p:cNvPr id="21" name="Text 17"/>
          <p:cNvSpPr/>
          <p:nvPr/>
        </p:nvSpPr>
        <p:spPr>
          <a:xfrm>
            <a:off x="2788920" y="385876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Detail modal popup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2788920" y="405993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$-prefixed values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2788920" y="426110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Category badges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2788920" y="4462272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Clickable rows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5596128" y="1289304"/>
            <a:ext cx="237744" cy="237744"/>
          </a:xfrm>
          <a:prstGeom prst="oval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641848" y="1335024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855464" y="1609344"/>
            <a:ext cx="1993392" cy="3145536"/>
          </a:xfrm>
          <a:prstGeom prst="rect">
            <a:avLst/>
          </a:prstGeom>
          <a:solidFill>
            <a:srgbClr val="111111"/>
          </a:solidFill>
          <a:ln w="9525">
            <a:solidFill>
              <a:srgbClr val="2E2E2E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408" y="1773936"/>
            <a:ext cx="603504" cy="60350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855464" y="248716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UPDATE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4965192" y="2907792"/>
            <a:ext cx="17739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edit pre-fills the form. Esc cancels. Edit mode blocks accidental creates.</a:t>
            </a:r>
            <a:endParaRPr lang="en-US" sz="880" dirty="0"/>
          </a:p>
        </p:txBody>
      </p:sp>
      <p:sp>
        <p:nvSpPr>
          <p:cNvPr id="31" name="Text 26"/>
          <p:cNvSpPr/>
          <p:nvPr/>
        </p:nvSpPr>
        <p:spPr>
          <a:xfrm>
            <a:off x="4965192" y="385876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Esc to cancel</a:t>
            </a: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4965192" y="405993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Form pre-fill</a:t>
            </a:r>
            <a:endParaRPr lang="en-US" sz="750" dirty="0"/>
          </a:p>
        </p:txBody>
      </p:sp>
      <p:sp>
        <p:nvSpPr>
          <p:cNvPr id="33" name="Text 28"/>
          <p:cNvSpPr/>
          <p:nvPr/>
        </p:nvSpPr>
        <p:spPr>
          <a:xfrm>
            <a:off x="4965192" y="426110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Date preserved</a:t>
            </a:r>
            <a:endParaRPr lang="en-US" sz="750" dirty="0"/>
          </a:p>
        </p:txBody>
      </p:sp>
      <p:sp>
        <p:nvSpPr>
          <p:cNvPr id="34" name="Text 29"/>
          <p:cNvSpPr/>
          <p:nvPr/>
        </p:nvSpPr>
        <p:spPr>
          <a:xfrm>
            <a:off x="4965192" y="4462272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Mode indicator</a:t>
            </a:r>
            <a:endParaRPr lang="en-US" sz="750" dirty="0"/>
          </a:p>
        </p:txBody>
      </p:sp>
      <p:sp>
        <p:nvSpPr>
          <p:cNvPr id="35" name="Shape 30"/>
          <p:cNvSpPr/>
          <p:nvPr/>
        </p:nvSpPr>
        <p:spPr>
          <a:xfrm>
            <a:off x="7772400" y="1289304"/>
            <a:ext cx="237744" cy="237744"/>
          </a:xfrm>
          <a:prstGeom prst="oval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7818120" y="1335024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7031736" y="1609344"/>
            <a:ext cx="1993392" cy="3145536"/>
          </a:xfrm>
          <a:prstGeom prst="rect">
            <a:avLst/>
          </a:prstGeom>
          <a:solidFill>
            <a:srgbClr val="111111"/>
          </a:solidFill>
          <a:ln w="9525">
            <a:solidFill>
              <a:srgbClr val="2E2E2E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773936"/>
            <a:ext cx="603504" cy="603504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7031736" y="248716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DELETE</a:t>
            </a:r>
            <a:endParaRPr lang="en-US" sz="1300" dirty="0"/>
          </a:p>
        </p:txBody>
      </p:sp>
      <p:sp>
        <p:nvSpPr>
          <p:cNvPr id="40" name="Text 34"/>
          <p:cNvSpPr/>
          <p:nvPr/>
        </p:nvSpPr>
        <p:spPr>
          <a:xfrm>
            <a:off x="7141464" y="2907792"/>
            <a:ext cx="17739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slide animation + confirm modal. Ctrl+Z undo. Duplicate button + undo.</a:t>
            </a:r>
            <a:endParaRPr lang="en-US" sz="880" dirty="0"/>
          </a:p>
        </p:txBody>
      </p:sp>
      <p:sp>
        <p:nvSpPr>
          <p:cNvPr id="41" name="Text 35"/>
          <p:cNvSpPr/>
          <p:nvPr/>
        </p:nvSpPr>
        <p:spPr>
          <a:xfrm>
            <a:off x="7141464" y="385876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Row animation</a:t>
            </a:r>
            <a:endParaRPr lang="en-US" sz="750" dirty="0"/>
          </a:p>
        </p:txBody>
      </p:sp>
      <p:sp>
        <p:nvSpPr>
          <p:cNvPr id="42" name="Text 36"/>
          <p:cNvSpPr/>
          <p:nvPr/>
        </p:nvSpPr>
        <p:spPr>
          <a:xfrm>
            <a:off x="7141464" y="405993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Confirm modal</a:t>
            </a:r>
            <a:endParaRPr lang="en-US" sz="750" dirty="0"/>
          </a:p>
        </p:txBody>
      </p:sp>
      <p:sp>
        <p:nvSpPr>
          <p:cNvPr id="43" name="Text 37"/>
          <p:cNvSpPr/>
          <p:nvPr/>
        </p:nvSpPr>
        <p:spPr>
          <a:xfrm>
            <a:off x="7141464" y="426110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Ctrl+Z undo</a:t>
            </a:r>
            <a:endParaRPr lang="en-US" sz="750" dirty="0"/>
          </a:p>
        </p:txBody>
      </p:sp>
      <p:sp>
        <p:nvSpPr>
          <p:cNvPr id="44" name="Text 38"/>
          <p:cNvSpPr/>
          <p:nvPr/>
        </p:nvSpPr>
        <p:spPr>
          <a:xfrm>
            <a:off x="7141464" y="4462272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Delete all</a:t>
            </a:r>
            <a:endParaRPr lang="en-US" sz="750" dirty="0"/>
          </a:p>
        </p:txBody>
      </p:sp>
      <p:sp>
        <p:nvSpPr>
          <p:cNvPr id="45" name="Text 39"/>
          <p:cNvSpPr/>
          <p:nvPr/>
        </p:nvSpPr>
        <p:spPr>
          <a:xfrm>
            <a:off x="7909560" y="47960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12</a:t>
            </a:r>
            <a:endParaRPr lang="en-US" sz="750" dirty="0"/>
          </a:p>
        </p:txBody>
      </p:sp>
    </p:spTree>
  </p:cSld>
  <p:clrMapOvr>
    <a:masterClrMapping/>
  </p:clrMapOvr>
  <p:transition advClk="1"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ADVANCED FEATURES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Beyond the Basics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97480" cy="1024128"/>
          </a:xfrm>
          <a:prstGeom prst="rect">
            <a:avLst/>
          </a:prstGeom>
          <a:solidFill>
            <a:srgbClr val="111111"/>
          </a:solidFill>
          <a:ln w="9525">
            <a:solidFill>
              <a:srgbClr val="2E2E2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6459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5819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SEARCH &amp; FILTER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9224" y="1984248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by title or category. Match highlighting. Category pills for 1-click filtering.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383280" y="1417320"/>
            <a:ext cx="2697480" cy="1024128"/>
          </a:xfrm>
          <a:prstGeom prst="rect">
            <a:avLst/>
          </a:prstGeom>
          <a:solidFill>
            <a:srgbClr val="111111"/>
          </a:solidFill>
          <a:ln w="9525">
            <a:solidFill>
              <a:srgbClr val="2E2E2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72" y="164592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69080" y="15819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SORTABLE TABLE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529584" y="1984248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headers to sort asc/desc. Arrow indicator. Combines with all active filters.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6263640" y="1417320"/>
            <a:ext cx="2697480" cy="1024128"/>
          </a:xfrm>
          <a:prstGeom prst="rect">
            <a:avLst/>
          </a:prstGeom>
          <a:solidFill>
            <a:srgbClr val="111111"/>
          </a:solidFill>
          <a:ln w="9525">
            <a:solidFill>
              <a:srgbClr val="2E2E2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164592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49440" y="15819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STATS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409944" y="1984248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animated counters: products, categories, total value, avg price, highest price.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502920" y="2587752"/>
            <a:ext cx="2697480" cy="1024128"/>
          </a:xfrm>
          <a:prstGeom prst="rect">
            <a:avLst/>
          </a:prstGeom>
          <a:solidFill>
            <a:srgbClr val="111111"/>
          </a:solidFill>
          <a:ln w="9525">
            <a:solidFill>
              <a:srgbClr val="2E2E2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2816352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27523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CSV + JSON EXPORT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649224" y="315468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export with date-stamped filename. All fields including % discount.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3383280" y="2587752"/>
            <a:ext cx="2697480" cy="1024128"/>
          </a:xfrm>
          <a:prstGeom prst="rect">
            <a:avLst/>
          </a:prstGeom>
          <a:solidFill>
            <a:srgbClr val="111111"/>
          </a:solidFill>
          <a:ln w="9525">
            <a:solidFill>
              <a:srgbClr val="2E2E2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7872" y="2816352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069080" y="27523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JSON IMPORT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3529584" y="315468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JSON backup to restore or merge. FileReader API — no server required.</a:t>
            </a:r>
            <a:endParaRPr lang="en-US" sz="850" dirty="0"/>
          </a:p>
        </p:txBody>
      </p:sp>
      <p:sp>
        <p:nvSpPr>
          <p:cNvPr id="24" name="Shape 17"/>
          <p:cNvSpPr/>
          <p:nvPr/>
        </p:nvSpPr>
        <p:spPr>
          <a:xfrm>
            <a:off x="6263640" y="2587752"/>
            <a:ext cx="2697480" cy="1024128"/>
          </a:xfrm>
          <a:prstGeom prst="rect">
            <a:avLst/>
          </a:prstGeom>
          <a:solidFill>
            <a:srgbClr val="111111"/>
          </a:solidFill>
          <a:ln w="9525">
            <a:solidFill>
              <a:srgbClr val="2E2E2E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232" y="2816352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49440" y="27523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UNDO (Ctrl+Z)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6409944" y="315468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Restores last deleted item, bulk delete, or duplicate. Typed undo stack.</a:t>
            </a:r>
            <a:endParaRPr lang="en-US" sz="850" dirty="0"/>
          </a:p>
        </p:txBody>
      </p:sp>
      <p:sp>
        <p:nvSpPr>
          <p:cNvPr id="28" name="Shape 20"/>
          <p:cNvSpPr/>
          <p:nvPr/>
        </p:nvSpPr>
        <p:spPr>
          <a:xfrm>
            <a:off x="502920" y="3758184"/>
            <a:ext cx="2697480" cy="1024128"/>
          </a:xfrm>
          <a:prstGeom prst="rect">
            <a:avLst/>
          </a:prstGeom>
          <a:solidFill>
            <a:srgbClr val="111111"/>
          </a:solidFill>
          <a:ln w="9525">
            <a:solidFill>
              <a:srgbClr val="2E2E2E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" y="3986784"/>
            <a:ext cx="384048" cy="38404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188720" y="392277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DUPLICATE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649224" y="4325112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any product with one click. Useful for variants. Ctrl+Z to undo.</a:t>
            </a:r>
            <a:endParaRPr lang="en-US" sz="850" dirty="0"/>
          </a:p>
        </p:txBody>
      </p:sp>
      <p:sp>
        <p:nvSpPr>
          <p:cNvPr id="32" name="Shape 23"/>
          <p:cNvSpPr/>
          <p:nvPr/>
        </p:nvSpPr>
        <p:spPr>
          <a:xfrm>
            <a:off x="3383280" y="3758184"/>
            <a:ext cx="2697480" cy="1024128"/>
          </a:xfrm>
          <a:prstGeom prst="rect">
            <a:avLst/>
          </a:prstGeom>
          <a:solidFill>
            <a:srgbClr val="111111"/>
          </a:solidFill>
          <a:ln w="9525">
            <a:solidFill>
              <a:srgbClr val="2E2E2E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47872" y="3986784"/>
            <a:ext cx="384048" cy="38404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4069080" y="392277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DISCOUNT %</a:t>
            </a:r>
            <a:endParaRPr lang="en-US" sz="1000" dirty="0"/>
          </a:p>
        </p:txBody>
      </p:sp>
      <p:sp>
        <p:nvSpPr>
          <p:cNvPr id="35" name="Text 25"/>
          <p:cNvSpPr/>
          <p:nvPr/>
        </p:nvSpPr>
        <p:spPr>
          <a:xfrm>
            <a:off x="3529584" y="4325112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entered as a percentage. Shown as % in table and detail view.</a:t>
            </a:r>
            <a:endParaRPr lang="en-US" sz="850" dirty="0"/>
          </a:p>
        </p:txBody>
      </p:sp>
      <p:sp>
        <p:nvSpPr>
          <p:cNvPr id="36" name="Shape 26"/>
          <p:cNvSpPr/>
          <p:nvPr/>
        </p:nvSpPr>
        <p:spPr>
          <a:xfrm>
            <a:off x="6263640" y="3758184"/>
            <a:ext cx="2697480" cy="1024128"/>
          </a:xfrm>
          <a:prstGeom prst="rect">
            <a:avLst/>
          </a:prstGeom>
          <a:solidFill>
            <a:srgbClr val="111111"/>
          </a:solidFill>
          <a:ln w="9525">
            <a:solidFill>
              <a:srgbClr val="2E2E2E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8232" y="3986784"/>
            <a:ext cx="384048" cy="384048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949440" y="392277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PRICE FILTER</a:t>
            </a:r>
            <a:endParaRPr lang="en-US" sz="1000" dirty="0"/>
          </a:p>
        </p:txBody>
      </p:sp>
      <p:sp>
        <p:nvSpPr>
          <p:cNvPr id="39" name="Text 28"/>
          <p:cNvSpPr/>
          <p:nvPr/>
        </p:nvSpPr>
        <p:spPr>
          <a:xfrm>
            <a:off x="6409944" y="4325112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products by min/max dollar price. Works alongside search and pills.</a:t>
            </a:r>
            <a:endParaRPr lang="en-US" sz="850" dirty="0"/>
          </a:p>
        </p:txBody>
      </p:sp>
      <p:sp>
        <p:nvSpPr>
          <p:cNvPr id="40" name="Text 29"/>
          <p:cNvSpPr/>
          <p:nvPr/>
        </p:nvSpPr>
        <p:spPr>
          <a:xfrm>
            <a:off x="7909560" y="47960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12</a:t>
            </a:r>
            <a:endParaRPr lang="en-US" sz="750" dirty="0"/>
          </a:p>
        </p:txBody>
      </p:sp>
    </p:spTree>
  </p:cSld>
  <p:clrMapOvr>
    <a:masterClrMapping/>
  </p:clrMapOvr>
  <p:transition advClk="1" spd="med">
    <p:push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COMPARISON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CRUDS vs The Alternatives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7955280" cy="420624"/>
          </a:xfrm>
          <a:prstGeom prst="rect">
            <a:avLst/>
          </a:prstGeom>
          <a:solidFill>
            <a:srgbClr val="1A1A1A"/>
          </a:solidFill>
          <a:ln w="7620">
            <a:solidFill>
              <a:srgbClr val="404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20840" y="1389888"/>
            <a:ext cx="1737360" cy="420624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337560" y="146304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Spreadsheet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983480" y="146304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Generic App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629400" y="14630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CRUDS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1856232"/>
            <a:ext cx="7955280" cy="2651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20840" y="1856232"/>
            <a:ext cx="1737360" cy="265176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019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total calc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1892808"/>
            <a:ext cx="182880" cy="18288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208" y="1892808"/>
            <a:ext cx="182880" cy="182880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892808"/>
            <a:ext cx="182880" cy="1828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" y="2121408"/>
            <a:ext cx="7955280" cy="2651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720840" y="2121408"/>
            <a:ext cx="1737360" cy="265176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94360" y="21671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title/category</a:t>
            </a:r>
            <a:endParaRPr lang="en-US" sz="9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2157984"/>
            <a:ext cx="182880" cy="182880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3208" y="2157984"/>
            <a:ext cx="182880" cy="18288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2157984"/>
            <a:ext cx="182880" cy="18288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02920" y="2386584"/>
            <a:ext cx="7955280" cy="2651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6720840" y="2386584"/>
            <a:ext cx="1737360" cy="265176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594360" y="243230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add (1–99)</a:t>
            </a:r>
            <a:endParaRPr lang="en-US" sz="95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7288" y="2423160"/>
            <a:ext cx="182880" cy="182880"/>
          </a:xfrm>
          <a:prstGeom prst="rect">
            <a:avLst/>
          </a:prstGeom>
        </p:spPr>
      </p:pic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3208" y="2423160"/>
            <a:ext cx="182880" cy="182880"/>
          </a:xfrm>
          <a:prstGeom prst="rect">
            <a:avLst/>
          </a:prstGeom>
        </p:spPr>
      </p:pic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3720" y="2423160"/>
            <a:ext cx="182880" cy="182880"/>
          </a:xfrm>
          <a:prstGeom prst="rect">
            <a:avLst/>
          </a:prstGeom>
        </p:spPr>
      </p:pic>
      <p:sp>
        <p:nvSpPr>
          <p:cNvPr id="28" name="Shape 17"/>
          <p:cNvSpPr/>
          <p:nvPr/>
        </p:nvSpPr>
        <p:spPr>
          <a:xfrm>
            <a:off x="502920" y="2651760"/>
            <a:ext cx="7955280" cy="2651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" name="Shape 18"/>
          <p:cNvSpPr/>
          <p:nvPr/>
        </p:nvSpPr>
        <p:spPr>
          <a:xfrm>
            <a:off x="6720840" y="2651760"/>
            <a:ext cx="1737360" cy="265176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0" name="Text 19"/>
          <p:cNvSpPr/>
          <p:nvPr/>
        </p:nvSpPr>
        <p:spPr>
          <a:xfrm>
            <a:off x="594360" y="26974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as percentage</a:t>
            </a:r>
            <a:endParaRPr lang="en-US" sz="95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2688336"/>
            <a:ext cx="182880" cy="182880"/>
          </a:xfrm>
          <a:prstGeom prst="rect">
            <a:avLst/>
          </a:prstGeom>
        </p:spPr>
      </p:pic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93208" y="2688336"/>
            <a:ext cx="182880" cy="182880"/>
          </a:xfrm>
          <a:prstGeom prst="rect">
            <a:avLst/>
          </a:prstGeom>
        </p:spPr>
      </p:pic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03720" y="2688336"/>
            <a:ext cx="182880" cy="182880"/>
          </a:xfrm>
          <a:prstGeom prst="rect">
            <a:avLst/>
          </a:prstGeom>
        </p:spPr>
      </p:pic>
      <p:sp>
        <p:nvSpPr>
          <p:cNvPr id="34" name="Shape 20"/>
          <p:cNvSpPr/>
          <p:nvPr/>
        </p:nvSpPr>
        <p:spPr>
          <a:xfrm>
            <a:off x="502920" y="2916936"/>
            <a:ext cx="7955280" cy="2651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Shape 21"/>
          <p:cNvSpPr/>
          <p:nvPr/>
        </p:nvSpPr>
        <p:spPr>
          <a:xfrm>
            <a:off x="6720840" y="2916936"/>
            <a:ext cx="1737360" cy="265176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6" name="Text 22"/>
          <p:cNvSpPr/>
          <p:nvPr/>
        </p:nvSpPr>
        <p:spPr>
          <a:xfrm>
            <a:off x="594360" y="296265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sign on all prices</a:t>
            </a:r>
            <a:endParaRPr lang="en-US" sz="95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47288" y="2953512"/>
            <a:ext cx="182880" cy="182880"/>
          </a:xfrm>
          <a:prstGeom prst="rect">
            <a:avLst/>
          </a:prstGeom>
        </p:spPr>
      </p:pic>
      <p:pic>
        <p:nvPicPr>
          <p:cNvPr id="38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93208" y="2953512"/>
            <a:ext cx="182880" cy="182880"/>
          </a:xfrm>
          <a:prstGeom prst="rect">
            <a:avLst/>
          </a:prstGeom>
        </p:spPr>
      </p:pic>
      <p:pic>
        <p:nvPicPr>
          <p:cNvPr id="39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03720" y="2953512"/>
            <a:ext cx="182880" cy="182880"/>
          </a:xfrm>
          <a:prstGeom prst="rect">
            <a:avLst/>
          </a:prstGeom>
        </p:spPr>
      </p:pic>
      <p:sp>
        <p:nvSpPr>
          <p:cNvPr id="40" name="Shape 23"/>
          <p:cNvSpPr/>
          <p:nvPr/>
        </p:nvSpPr>
        <p:spPr>
          <a:xfrm>
            <a:off x="502920" y="3182112"/>
            <a:ext cx="7955280" cy="2651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1" name="Shape 24"/>
          <p:cNvSpPr/>
          <p:nvPr/>
        </p:nvSpPr>
        <p:spPr>
          <a:xfrm>
            <a:off x="6720840" y="3182112"/>
            <a:ext cx="1737360" cy="265176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42" name="Text 25"/>
          <p:cNvSpPr/>
          <p:nvPr/>
        </p:nvSpPr>
        <p:spPr>
          <a:xfrm>
            <a:off x="594360" y="32278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+ JSON export</a:t>
            </a:r>
            <a:endParaRPr lang="en-US" sz="950" dirty="0"/>
          </a:p>
        </p:txBody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47288" y="3218688"/>
            <a:ext cx="182880" cy="182880"/>
          </a:xfrm>
          <a:prstGeom prst="rect">
            <a:avLst/>
          </a:prstGeom>
        </p:spPr>
      </p:pic>
      <p:pic>
        <p:nvPicPr>
          <p:cNvPr id="44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93208" y="3218688"/>
            <a:ext cx="182880" cy="182880"/>
          </a:xfrm>
          <a:prstGeom prst="rect">
            <a:avLst/>
          </a:prstGeom>
        </p:spPr>
      </p:pic>
      <p:pic>
        <p:nvPicPr>
          <p:cNvPr id="45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03720" y="3218688"/>
            <a:ext cx="182880" cy="182880"/>
          </a:xfrm>
          <a:prstGeom prst="rect">
            <a:avLst/>
          </a:prstGeom>
        </p:spPr>
      </p:pic>
      <p:sp>
        <p:nvSpPr>
          <p:cNvPr id="46" name="Shape 26"/>
          <p:cNvSpPr/>
          <p:nvPr/>
        </p:nvSpPr>
        <p:spPr>
          <a:xfrm>
            <a:off x="502920" y="3447288"/>
            <a:ext cx="7955280" cy="2651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7" name="Shape 27"/>
          <p:cNvSpPr/>
          <p:nvPr/>
        </p:nvSpPr>
        <p:spPr>
          <a:xfrm>
            <a:off x="6720840" y="3447288"/>
            <a:ext cx="1737360" cy="265176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48" name="Text 28"/>
          <p:cNvSpPr/>
          <p:nvPr/>
        </p:nvSpPr>
        <p:spPr>
          <a:xfrm>
            <a:off x="594360" y="34930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import/merge</a:t>
            </a:r>
            <a:endParaRPr lang="en-US" sz="950" dirty="0"/>
          </a:p>
        </p:txBody>
      </p:sp>
      <p:pic>
        <p:nvPicPr>
          <p:cNvPr id="49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447288" y="3483864"/>
            <a:ext cx="182880" cy="182880"/>
          </a:xfrm>
          <a:prstGeom prst="rect">
            <a:avLst/>
          </a:prstGeom>
        </p:spPr>
      </p:pic>
      <p:pic>
        <p:nvPicPr>
          <p:cNvPr id="50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093208" y="3483864"/>
            <a:ext cx="182880" cy="182880"/>
          </a:xfrm>
          <a:prstGeom prst="rect">
            <a:avLst/>
          </a:prstGeom>
        </p:spPr>
      </p:pic>
      <p:pic>
        <p:nvPicPr>
          <p:cNvPr id="51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903720" y="3483864"/>
            <a:ext cx="182880" cy="182880"/>
          </a:xfrm>
          <a:prstGeom prst="rect">
            <a:avLst/>
          </a:prstGeom>
        </p:spPr>
      </p:pic>
      <p:sp>
        <p:nvSpPr>
          <p:cNvPr id="52" name="Shape 29"/>
          <p:cNvSpPr/>
          <p:nvPr/>
        </p:nvSpPr>
        <p:spPr>
          <a:xfrm>
            <a:off x="502920" y="3712464"/>
            <a:ext cx="7955280" cy="2651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3" name="Shape 30"/>
          <p:cNvSpPr/>
          <p:nvPr/>
        </p:nvSpPr>
        <p:spPr>
          <a:xfrm>
            <a:off x="6720840" y="3712464"/>
            <a:ext cx="1737360" cy="265176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54" name="Text 31"/>
          <p:cNvSpPr/>
          <p:nvPr/>
        </p:nvSpPr>
        <p:spPr>
          <a:xfrm>
            <a:off x="594360" y="375818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delete (Ctrl+Z)</a:t>
            </a:r>
            <a:endParaRPr lang="en-US" sz="950" dirty="0"/>
          </a:p>
        </p:txBody>
      </p:sp>
      <p:pic>
        <p:nvPicPr>
          <p:cNvPr id="55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447288" y="3749040"/>
            <a:ext cx="182880" cy="182880"/>
          </a:xfrm>
          <a:prstGeom prst="rect">
            <a:avLst/>
          </a:prstGeom>
        </p:spPr>
      </p:pic>
      <p:pic>
        <p:nvPicPr>
          <p:cNvPr id="56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093208" y="3749040"/>
            <a:ext cx="182880" cy="182880"/>
          </a:xfrm>
          <a:prstGeom prst="rect">
            <a:avLst/>
          </a:prstGeom>
        </p:spPr>
      </p:pic>
      <p:pic>
        <p:nvPicPr>
          <p:cNvPr id="57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903720" y="3749040"/>
            <a:ext cx="182880" cy="182880"/>
          </a:xfrm>
          <a:prstGeom prst="rect">
            <a:avLst/>
          </a:prstGeom>
        </p:spPr>
      </p:pic>
      <p:sp>
        <p:nvSpPr>
          <p:cNvPr id="58" name="Shape 32"/>
          <p:cNvSpPr/>
          <p:nvPr/>
        </p:nvSpPr>
        <p:spPr>
          <a:xfrm>
            <a:off x="502920" y="3977640"/>
            <a:ext cx="7955280" cy="2651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9" name="Shape 33"/>
          <p:cNvSpPr/>
          <p:nvPr/>
        </p:nvSpPr>
        <p:spPr>
          <a:xfrm>
            <a:off x="6720840" y="3977640"/>
            <a:ext cx="1737360" cy="265176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60" name="Text 34"/>
          <p:cNvSpPr/>
          <p:nvPr/>
        </p:nvSpPr>
        <p:spPr>
          <a:xfrm>
            <a:off x="594360" y="40233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product</a:t>
            </a:r>
            <a:endParaRPr lang="en-US" sz="950" dirty="0"/>
          </a:p>
        </p:txBody>
      </p:sp>
      <p:pic>
        <p:nvPicPr>
          <p:cNvPr id="61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447288" y="4014216"/>
            <a:ext cx="182880" cy="182880"/>
          </a:xfrm>
          <a:prstGeom prst="rect">
            <a:avLst/>
          </a:prstGeom>
        </p:spPr>
      </p:pic>
      <p:pic>
        <p:nvPicPr>
          <p:cNvPr id="62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093208" y="4014216"/>
            <a:ext cx="182880" cy="182880"/>
          </a:xfrm>
          <a:prstGeom prst="rect">
            <a:avLst/>
          </a:prstGeom>
        </p:spPr>
      </p:pic>
      <p:pic>
        <p:nvPicPr>
          <p:cNvPr id="63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903720" y="4014216"/>
            <a:ext cx="182880" cy="182880"/>
          </a:xfrm>
          <a:prstGeom prst="rect">
            <a:avLst/>
          </a:prstGeom>
        </p:spPr>
      </p:pic>
      <p:sp>
        <p:nvSpPr>
          <p:cNvPr id="64" name="Shape 35"/>
          <p:cNvSpPr/>
          <p:nvPr/>
        </p:nvSpPr>
        <p:spPr>
          <a:xfrm>
            <a:off x="502920" y="4242816"/>
            <a:ext cx="7955280" cy="2651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5" name="Shape 36"/>
          <p:cNvSpPr/>
          <p:nvPr/>
        </p:nvSpPr>
        <p:spPr>
          <a:xfrm>
            <a:off x="6720840" y="4242816"/>
            <a:ext cx="1737360" cy="265176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66" name="Text 37"/>
          <p:cNvSpPr/>
          <p:nvPr/>
        </p:nvSpPr>
        <p:spPr>
          <a:xfrm>
            <a:off x="594360" y="42885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 filter</a:t>
            </a:r>
            <a:endParaRPr lang="en-US" sz="950" dirty="0"/>
          </a:p>
        </p:txBody>
      </p:sp>
      <p:pic>
        <p:nvPicPr>
          <p:cNvPr id="67" name="Image 27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447288" y="4279392"/>
            <a:ext cx="182880" cy="182880"/>
          </a:xfrm>
          <a:prstGeom prst="rect">
            <a:avLst/>
          </a:prstGeom>
        </p:spPr>
      </p:pic>
      <p:pic>
        <p:nvPicPr>
          <p:cNvPr id="68" name="Image 28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093208" y="4279392"/>
            <a:ext cx="182880" cy="182880"/>
          </a:xfrm>
          <a:prstGeom prst="rect">
            <a:avLst/>
          </a:prstGeom>
        </p:spPr>
      </p:pic>
      <p:pic>
        <p:nvPicPr>
          <p:cNvPr id="69" name="Image 29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903720" y="4279392"/>
            <a:ext cx="182880" cy="182880"/>
          </a:xfrm>
          <a:prstGeom prst="rect">
            <a:avLst/>
          </a:prstGeom>
        </p:spPr>
      </p:pic>
      <p:sp>
        <p:nvSpPr>
          <p:cNvPr id="70" name="Shape 38"/>
          <p:cNvSpPr/>
          <p:nvPr/>
        </p:nvSpPr>
        <p:spPr>
          <a:xfrm>
            <a:off x="502920" y="4507992"/>
            <a:ext cx="7955280" cy="2651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1" name="Shape 39"/>
          <p:cNvSpPr/>
          <p:nvPr/>
        </p:nvSpPr>
        <p:spPr>
          <a:xfrm>
            <a:off x="6720840" y="4507992"/>
            <a:ext cx="1737360" cy="265176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72" name="Text 40"/>
          <p:cNvSpPr/>
          <p:nvPr/>
        </p:nvSpPr>
        <p:spPr>
          <a:xfrm>
            <a:off x="594360" y="455371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100% offline</a:t>
            </a:r>
            <a:endParaRPr lang="en-US" sz="950" dirty="0"/>
          </a:p>
        </p:txBody>
      </p:sp>
      <p:pic>
        <p:nvPicPr>
          <p:cNvPr id="73" name="Image 30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447288" y="4544568"/>
            <a:ext cx="182880" cy="182880"/>
          </a:xfrm>
          <a:prstGeom prst="rect">
            <a:avLst/>
          </a:prstGeom>
        </p:spPr>
      </p:pic>
      <p:pic>
        <p:nvPicPr>
          <p:cNvPr id="74" name="Image 31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093208" y="4544568"/>
            <a:ext cx="182880" cy="182880"/>
          </a:xfrm>
          <a:prstGeom prst="rect">
            <a:avLst/>
          </a:prstGeom>
        </p:spPr>
      </p:pic>
      <p:pic>
        <p:nvPicPr>
          <p:cNvPr id="75" name="Image 32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903720" y="4544568"/>
            <a:ext cx="182880" cy="182880"/>
          </a:xfrm>
          <a:prstGeom prst="rect">
            <a:avLst/>
          </a:prstGeom>
        </p:spPr>
      </p:pic>
      <p:sp>
        <p:nvSpPr>
          <p:cNvPr id="76" name="Text 41"/>
          <p:cNvSpPr/>
          <p:nvPr/>
        </p:nvSpPr>
        <p:spPr>
          <a:xfrm>
            <a:off x="7909560" y="47960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12</a:t>
            </a:r>
            <a:endParaRPr lang="en-US" sz="750" dirty="0"/>
          </a:p>
        </p:txBody>
      </p:sp>
    </p:spTree>
  </p:cSld>
  <p:clrMapOvr>
    <a:masterClrMapping/>
  </p:clrMapOvr>
  <p:transition advClk="1"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DESIGN &amp; UX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Designed to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Feel Fast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901952"/>
            <a:ext cx="5029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90195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Light &amp; Dark Mode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213969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toggle. Preference saved via localStorage.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2395728"/>
            <a:ext cx="5029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39572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Micro-animations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263347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slide in/out, shake on error, float empty state, orb drift.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889504"/>
            <a:ext cx="5029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88950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Toast Notifications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312724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toasts (success/error/info) with dismissal progress bar.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3383280"/>
            <a:ext cx="5029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38328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Keyboard Shortcuts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" y="362102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submit · Escape cancel edit · Ctrl+Z undo.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877056"/>
            <a:ext cx="5029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87705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Responsive Layout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" y="411480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grid: 4 col → 2 → 1 at mobile breakpoints.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4370832"/>
            <a:ext cx="5029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437083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Ripple Buttons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" y="460857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::after ripple on every interactive button element.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3440" y="5943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Palette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1170432"/>
            <a:ext cx="1298448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2E2E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993392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White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663440" y="219456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144768" y="1170432"/>
            <a:ext cx="1298448" cy="777240"/>
          </a:xfrm>
          <a:prstGeom prst="rect">
            <a:avLst/>
          </a:prstGeom>
          <a:solidFill>
            <a:srgbClr val="CCCCCC"/>
          </a:solidFill>
          <a:ln w="5080">
            <a:solidFill>
              <a:srgbClr val="08080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44768" y="1993392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 Gray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144768" y="219456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#CCCCCC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7626096" y="1170432"/>
            <a:ext cx="1298448" cy="777240"/>
          </a:xfrm>
          <a:prstGeom prst="rect">
            <a:avLst/>
          </a:prstGeom>
          <a:solidFill>
            <a:srgbClr val="AAAAAA"/>
          </a:solidFill>
          <a:ln w="5080">
            <a:solidFill>
              <a:srgbClr val="08080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26096" y="1993392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Gray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626096" y="219456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#AAAAAA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663440" y="2633472"/>
            <a:ext cx="1298448" cy="777240"/>
          </a:xfrm>
          <a:prstGeom prst="rect">
            <a:avLst/>
          </a:prstGeom>
          <a:solidFill>
            <a:srgbClr val="888888"/>
          </a:solidFill>
          <a:ln w="5080">
            <a:solidFill>
              <a:srgbClr val="08080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456432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 Gray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663440" y="365760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#888888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144768" y="2633472"/>
            <a:ext cx="1298448" cy="777240"/>
          </a:xfrm>
          <a:prstGeom prst="rect">
            <a:avLst/>
          </a:prstGeom>
          <a:solidFill>
            <a:srgbClr val="404040"/>
          </a:solidFill>
          <a:ln w="5080">
            <a:solidFill>
              <a:srgbClr val="08080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44768" y="3456432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Dark Gray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144768" y="365760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#404040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626096" y="2633472"/>
            <a:ext cx="1298448" cy="777240"/>
          </a:xfrm>
          <a:prstGeom prst="rect">
            <a:avLst/>
          </a:prstGeom>
          <a:solidFill>
            <a:srgbClr val="080808"/>
          </a:solidFill>
          <a:ln w="5080">
            <a:solidFill>
              <a:srgbClr val="08080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26096" y="3456432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Black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626096" y="365760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#080808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663440" y="3858768"/>
            <a:ext cx="4114800" cy="932688"/>
          </a:xfrm>
          <a:prstGeom prst="rect">
            <a:avLst/>
          </a:prstGeom>
          <a:solidFill>
            <a:srgbClr val="111111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73168" y="393192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Rajdhani Bold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4773168" y="43525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JetBrains Mono  ·  data &amp; code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909560" y="47960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12</a:t>
            </a:r>
            <a:endParaRPr lang="en-US" sz="750" dirty="0"/>
          </a:p>
        </p:txBody>
      </p:sp>
    </p:spTree>
  </p:cSld>
  <p:clrMapOvr>
    <a:masterClrMapping/>
  </p:clrMapOvr>
  <p:transition advClk="1" spd="med">
    <p:push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TECH STACK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Pure Web.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 Deps.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90195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files. Any browser. No npm, no build pipeline, no runtime dependencies.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709160" y="347472"/>
            <a:ext cx="1325880" cy="4041648"/>
          </a:xfrm>
          <a:prstGeom prst="rect">
            <a:avLst/>
          </a:prstGeom>
          <a:solidFill>
            <a:srgbClr val="111111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09160" y="347472"/>
            <a:ext cx="1325880" cy="0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496" y="566928"/>
            <a:ext cx="530352" cy="5303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64024" y="1243584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4709160" y="153619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00600" y="1920240"/>
            <a:ext cx="1143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markup, modals, table, pagination, SVG icon sprite. Zero JS in HTML.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190488" y="347472"/>
            <a:ext cx="1325880" cy="4041648"/>
          </a:xfrm>
          <a:prstGeom prst="rect">
            <a:avLst/>
          </a:prstGeom>
          <a:solidFill>
            <a:srgbClr val="111111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90488" y="347472"/>
            <a:ext cx="1325880" cy="0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566928"/>
            <a:ext cx="530352" cy="5303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45352" y="1243584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6190488" y="153619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Logic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281928" y="1920240"/>
            <a:ext cx="1143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localStorage, search, sort, export, import, undo, duplicate. All vanilla ES6+.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7671816" y="347472"/>
            <a:ext cx="1325880" cy="4041648"/>
          </a:xfrm>
          <a:prstGeom prst="rect">
            <a:avLst/>
          </a:prstGeom>
          <a:solidFill>
            <a:srgbClr val="111111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671816" y="347472"/>
            <a:ext cx="1325880" cy="0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566928"/>
            <a:ext cx="530352" cy="5303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726680" y="1243584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7671816" y="153619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Style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763256" y="1920240"/>
            <a:ext cx="1143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vars, grid, keyframes, light/dark mode. No preprocessor, no framework.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4709160" y="2852928"/>
            <a:ext cx="4187952" cy="1481328"/>
          </a:xfrm>
          <a:prstGeom prst="rect">
            <a:avLst/>
          </a:prstGeom>
          <a:solidFill>
            <a:srgbClr val="111111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709160" y="2852928"/>
            <a:ext cx="4187952" cy="0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10896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86400" y="29992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localStorage API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486400" y="336499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persistence. JSON.stringify / parse. Survives refresh. No backend. Ever.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502920" y="25420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compatibility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02920" y="2889504"/>
            <a:ext cx="4114800" cy="2926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40080" y="29260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</a:t>
            </a:r>
            <a:endParaRPr lang="en-US" sz="10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6512" y="2953512"/>
            <a:ext cx="182880" cy="182880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502920" y="3209544"/>
            <a:ext cx="4114800" cy="29260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640080" y="32461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</a:t>
            </a:r>
            <a:endParaRPr lang="en-US" sz="10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6512" y="3273552"/>
            <a:ext cx="182880" cy="182880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502920" y="3529584"/>
            <a:ext cx="4114800" cy="2926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640080" y="35661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00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6512" y="3593592"/>
            <a:ext cx="182880" cy="182880"/>
          </a:xfrm>
          <a:prstGeom prst="rect">
            <a:avLst/>
          </a:prstGeom>
        </p:spPr>
      </p:pic>
      <p:sp>
        <p:nvSpPr>
          <p:cNvPr id="38" name="Shape 29"/>
          <p:cNvSpPr/>
          <p:nvPr/>
        </p:nvSpPr>
        <p:spPr>
          <a:xfrm>
            <a:off x="502920" y="3849624"/>
            <a:ext cx="4114800" cy="29260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640080" y="38862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</a:t>
            </a:r>
            <a:endParaRPr lang="en-US" sz="1000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96512" y="3913632"/>
            <a:ext cx="182880" cy="182880"/>
          </a:xfrm>
          <a:prstGeom prst="rect">
            <a:avLst/>
          </a:prstGeom>
        </p:spPr>
      </p:pic>
      <p:sp>
        <p:nvSpPr>
          <p:cNvPr id="41" name="Shape 31"/>
          <p:cNvSpPr/>
          <p:nvPr/>
        </p:nvSpPr>
        <p:spPr>
          <a:xfrm>
            <a:off x="502920" y="4169664"/>
            <a:ext cx="4114800" cy="2926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640080" y="42062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</a:t>
            </a:r>
            <a:endParaRPr lang="en-US" sz="1000" dirty="0"/>
          </a:p>
        </p:txBody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96512" y="4233672"/>
            <a:ext cx="182880" cy="182880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7909560" y="47960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12</a:t>
            </a:r>
            <a:endParaRPr lang="en-US" sz="750" dirty="0"/>
          </a:p>
        </p:txBody>
      </p:sp>
    </p:spTree>
  </p:cSld>
  <p:clrMapOvr>
    <a:masterClrMapping/>
  </p:clrMapOvr>
  <p:transition advClk="1"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BY THE NUMBERS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Everything Measured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993392" cy="1481328"/>
          </a:xfrm>
          <a:prstGeom prst="rect">
            <a:avLst/>
          </a:prstGeom>
          <a:solidFill>
            <a:srgbClr val="111111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1993392" cy="0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89888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223113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52374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 + CSS + JS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679192" y="1298448"/>
            <a:ext cx="1993392" cy="1481328"/>
          </a:xfrm>
          <a:prstGeom prst="rect">
            <a:avLst/>
          </a:prstGeom>
          <a:solidFill>
            <a:srgbClr val="111111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79192" y="1298448"/>
            <a:ext cx="1993392" cy="0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9192" y="1389888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679192" y="223113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Dependencies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79192" y="252374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 npm packages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855464" y="1298448"/>
            <a:ext cx="1993392" cy="1481328"/>
          </a:xfrm>
          <a:prstGeom prst="rect">
            <a:avLst/>
          </a:prstGeom>
          <a:solidFill>
            <a:srgbClr val="111111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55464" y="1298448"/>
            <a:ext cx="1993392" cy="0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55464" y="1389888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12+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855464" y="223113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55464" y="252374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 interactions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031736" y="1298448"/>
            <a:ext cx="1993392" cy="1481328"/>
          </a:xfrm>
          <a:prstGeom prst="rect">
            <a:avLst/>
          </a:prstGeom>
          <a:solidFill>
            <a:srgbClr val="111111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31736" y="1298448"/>
            <a:ext cx="1993392" cy="0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31736" y="1389888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7031736" y="223113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Offline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31736" y="252374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server needed</a:t>
            </a:r>
            <a:endParaRPr lang="en-US" sz="7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502920" y="2926080"/>
          <a:ext cx="50292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5" name="Chart 1" descr=""/>
          <p:cNvGraphicFramePr/>
          <p:nvPr/>
        </p:nvGraphicFramePr>
        <p:xfrm>
          <a:off x="5760720" y="2880360"/>
          <a:ext cx="310896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6" name="Text 22"/>
          <p:cNvSpPr/>
          <p:nvPr/>
        </p:nvSpPr>
        <p:spPr>
          <a:xfrm>
            <a:off x="7909560" y="47960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12</a:t>
            </a:r>
            <a:endParaRPr lang="en-US" sz="750" dirty="0"/>
          </a:p>
        </p:txBody>
      </p:sp>
    </p:spTree>
  </p:cSld>
  <p:clrMapOvr>
    <a:masterClrMapping/>
  </p:clrMapOvr>
  <p:transition advClk="1" spd="slow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ROADMAP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Next for CRUDS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8138160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" y="138988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69848" y="1609344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234440" y="1993392"/>
            <a:ext cx="237744" cy="237744"/>
          </a:xfrm>
          <a:prstGeom prst="oval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9304" y="2039112"/>
            <a:ext cx="1280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423160"/>
            <a:ext cx="1993392" cy="1536192"/>
          </a:xfrm>
          <a:prstGeom prst="rect">
            <a:avLst/>
          </a:prstGeom>
          <a:solidFill>
            <a:srgbClr val="111111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423160"/>
            <a:ext cx="1993392" cy="0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2569464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CRUD, search, sort, filter, discount %, dollar signs, export, import, undo, duplicate, pagination, light/dark.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46120" y="2359152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46120" y="257860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SOON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410712" y="1993392"/>
            <a:ext cx="237744" cy="237744"/>
          </a:xfrm>
          <a:prstGeom prst="oval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65576" y="2039112"/>
            <a:ext cx="128016" cy="128016"/>
          </a:xfrm>
          <a:prstGeom prst="rect">
            <a:avLst/>
          </a:prstGeom>
          <a:solidFill>
            <a:srgbClr val="606060"/>
          </a:solidFill>
          <a:ln w="12700">
            <a:solidFill>
              <a:srgbClr val="6060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79192" y="384048"/>
            <a:ext cx="1993392" cy="1536192"/>
          </a:xfrm>
          <a:prstGeom prst="rect">
            <a:avLst/>
          </a:prstGeom>
          <a:solidFill>
            <a:srgbClr val="111111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79192" y="384048"/>
            <a:ext cx="1993392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07208" y="530352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Multi-currency. Product image thumbnails. Bulk edit. Full keyboard navigation.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22392" y="138988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v2.0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22392" y="1609344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586984" y="1993392"/>
            <a:ext cx="237744" cy="237744"/>
          </a:xfrm>
          <a:prstGeom prst="oval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41848" y="2039112"/>
            <a:ext cx="1280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55464" y="2423160"/>
            <a:ext cx="1993392" cy="1536192"/>
          </a:xfrm>
          <a:prstGeom prst="rect">
            <a:avLst/>
          </a:prstGeom>
          <a:solidFill>
            <a:srgbClr val="111111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55464" y="2423160"/>
            <a:ext cx="1993392" cy="0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569464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cloud sync. Shareable lists. Team collaboration. Role-based access.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598664" y="2359152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v3.0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598664" y="257860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VISION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7763256" y="1993392"/>
            <a:ext cx="237744" cy="237744"/>
          </a:xfrm>
          <a:prstGeom prst="oval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18120" y="2039112"/>
            <a:ext cx="128016" cy="128016"/>
          </a:xfrm>
          <a:prstGeom prst="rect">
            <a:avLst/>
          </a:prstGeom>
          <a:solidFill>
            <a:srgbClr val="606060"/>
          </a:solidFill>
          <a:ln w="12700">
            <a:solidFill>
              <a:srgbClr val="6060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31736" y="384048"/>
            <a:ext cx="1993392" cy="1536192"/>
          </a:xfrm>
          <a:prstGeom prst="rect">
            <a:avLst/>
          </a:prstGeom>
          <a:solidFill>
            <a:srgbClr val="111111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31736" y="384048"/>
            <a:ext cx="1993392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9752" y="530352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offline install. Mobile app. AI-powered pricing suggestions.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909560" y="47960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12</a:t>
            </a:r>
            <a:endParaRPr lang="en-US" sz="750" dirty="0"/>
          </a:p>
        </p:txBody>
      </p:sp>
    </p:spTree>
  </p:cSld>
  <p:clrMapOvr>
    <a:masterClrMapping/>
  </p:clrMapOvr>
  <p:transition advClk="1"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365760" cy="0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365760" cy="2286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274320"/>
            <a:ext cx="365760" cy="0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274320"/>
            <a:ext cx="365760" cy="2286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4850892"/>
            <a:ext cx="365760" cy="0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850892"/>
            <a:ext cx="365760" cy="2286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0" y="4850892"/>
            <a:ext cx="365760" cy="0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4850892"/>
            <a:ext cx="365760" cy="2286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11480"/>
            <a:ext cx="8595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0" b="1" spc="1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CRUDS</a:t>
            </a:r>
            <a:endParaRPr lang="en-US" sz="12200" dirty="0"/>
          </a:p>
        </p:txBody>
      </p:sp>
      <p:sp>
        <p:nvSpPr>
          <p:cNvPr id="11" name="Shape 9"/>
          <p:cNvSpPr/>
          <p:nvPr/>
        </p:nvSpPr>
        <p:spPr>
          <a:xfrm>
            <a:off x="457200" y="2633472"/>
            <a:ext cx="8229600" cy="502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98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spc="300" kern="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 management system that just works.</a:t>
            </a:r>
            <a:endParaRPr lang="en-US" sz="13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383280"/>
            <a:ext cx="347472" cy="34747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382219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any browser</a:t>
            </a:r>
            <a:endParaRPr lang="en-US" sz="9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432" y="3383280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633472" y="382219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never leaves your device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704" y="338328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09744" y="382219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open-source</a:t>
            </a:r>
            <a:endParaRPr lang="en-US" sz="9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976" y="3383280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86016" y="382219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missed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0" y="4796028"/>
            <a:ext cx="9144000" cy="0"/>
          </a:xfrm>
          <a:prstGeom prst="line">
            <a:avLst/>
          </a:prstGeom>
          <a:noFill/>
          <a:ln w="6350">
            <a:solidFill>
              <a:srgbClr val="404040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57200" y="486003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0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by Techno  ·  2025  ·  CRUDS v2.0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7132320" y="48600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you.</a:t>
            </a:r>
            <a:endParaRPr lang="en-US" sz="900" dirty="0"/>
          </a:p>
        </p:txBody>
      </p:sp>
    </p:spTree>
  </p:cSld>
  <p:clrMapOvr>
    <a:masterClrMapping/>
  </p:clrMapOvr>
  <p:transition advClk="1"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CRUDS</dc:title>
  <dc:subject>PptxGenJS Presentation</dc:subject>
  <dc:creator>Techno</dc:creator>
  <cp:lastModifiedBy>Techno</cp:lastModifiedBy>
  <cp:revision>1</cp:revision>
  <dcterms:created xsi:type="dcterms:W3CDTF">2026-04-19T15:36:27Z</dcterms:created>
  <dcterms:modified xsi:type="dcterms:W3CDTF">2026-04-19T15:36:27Z</dcterms:modified>
</cp:coreProperties>
</file>